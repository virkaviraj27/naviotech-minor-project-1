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roxima Nova Bold" charset="1" panose="02000506030000020004"/>
      <p:regular r:id="rId16"/>
    </p:embeddedFont>
    <p:embeddedFont>
      <p:font typeface="Nunito" charset="1" panose="00000000000000000000"/>
      <p:regular r:id="rId17"/>
    </p:embeddedFont>
    <p:embeddedFont>
      <p:font typeface="Open Sans" charset="1" panose="020B0606030504020204"/>
      <p:regular r:id="rId18"/>
    </p:embeddedFont>
    <p:embeddedFont>
      <p:font typeface="Canva Sans" charset="1" panose="020B0503030501040103"/>
      <p:regular r:id="rId19"/>
    </p:embeddedFont>
    <p:embeddedFont>
      <p:font typeface="Canva Sans Bold" charset="1" panose="020B0803030501040103"/>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13195961" y="5935345"/>
            <a:ext cx="8126677" cy="8126677"/>
          </a:xfrm>
          <a:custGeom>
            <a:avLst/>
            <a:gdLst/>
            <a:ahLst/>
            <a:cxnLst/>
            <a:rect r="r" b="b" t="t" l="l"/>
            <a:pathLst>
              <a:path h="8126677" w="8126677">
                <a:moveTo>
                  <a:pt x="0" y="0"/>
                </a:moveTo>
                <a:lnTo>
                  <a:pt x="8126678" y="0"/>
                </a:lnTo>
                <a:lnTo>
                  <a:pt x="8126678" y="8126677"/>
                </a:lnTo>
                <a:lnTo>
                  <a:pt x="0" y="81266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50137" y="-174299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94970" y="-1387826"/>
            <a:ext cx="3404467" cy="3404467"/>
          </a:xfrm>
          <a:custGeom>
            <a:avLst/>
            <a:gdLst/>
            <a:ahLst/>
            <a:cxnLst/>
            <a:rect r="r" b="b" t="t" l="l"/>
            <a:pathLst>
              <a:path h="3404467" w="3404467">
                <a:moveTo>
                  <a:pt x="0" y="0"/>
                </a:moveTo>
                <a:lnTo>
                  <a:pt x="3404466" y="0"/>
                </a:lnTo>
                <a:lnTo>
                  <a:pt x="3404466" y="3404467"/>
                </a:lnTo>
                <a:lnTo>
                  <a:pt x="0" y="34044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897411" y="6636795"/>
            <a:ext cx="6723778" cy="6723778"/>
          </a:xfrm>
          <a:custGeom>
            <a:avLst/>
            <a:gdLst/>
            <a:ahLst/>
            <a:cxnLst/>
            <a:rect r="r" b="b" t="t" l="l"/>
            <a:pathLst>
              <a:path h="6723778" w="6723778">
                <a:moveTo>
                  <a:pt x="0" y="0"/>
                </a:moveTo>
                <a:lnTo>
                  <a:pt x="6723778" y="0"/>
                </a:lnTo>
                <a:lnTo>
                  <a:pt x="6723778" y="6723778"/>
                </a:lnTo>
                <a:lnTo>
                  <a:pt x="0" y="6723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876906" y="7616290"/>
            <a:ext cx="4764788" cy="476478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499020" y="-891876"/>
            <a:ext cx="2412567" cy="241256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3120435" y="904875"/>
            <a:ext cx="12132254" cy="4336173"/>
          </a:xfrm>
          <a:prstGeom prst="rect">
            <a:avLst/>
          </a:prstGeom>
        </p:spPr>
        <p:txBody>
          <a:bodyPr anchor="t" rtlCol="false" tIns="0" lIns="0" bIns="0" rIns="0">
            <a:spAutoFit/>
          </a:bodyPr>
          <a:lstStyle/>
          <a:p>
            <a:pPr algn="ctr">
              <a:lnSpc>
                <a:spcPts val="8637"/>
              </a:lnSpc>
            </a:pPr>
            <a:r>
              <a:rPr lang="en-US" b="true" sz="6169">
                <a:solidFill>
                  <a:srgbClr val="000000"/>
                </a:solidFill>
                <a:latin typeface="Proxima Nova Bold"/>
                <a:ea typeface="Proxima Nova Bold"/>
                <a:cs typeface="Proxima Nova Bold"/>
                <a:sym typeface="Proxima Nova Bold"/>
              </a:rPr>
              <a:t>PROBLEM STATEMENT: CYBERSECURITY RISK ASSESSMENT FRAMEWORK FOR SMALL BUSINESSES?</a:t>
            </a:r>
          </a:p>
        </p:txBody>
      </p:sp>
      <p:grpSp>
        <p:nvGrpSpPr>
          <p:cNvPr name="Group 13" id="13"/>
          <p:cNvGrpSpPr/>
          <p:nvPr/>
        </p:nvGrpSpPr>
        <p:grpSpPr>
          <a:xfrm rot="0">
            <a:off x="5897121" y="6636795"/>
            <a:ext cx="6578882" cy="1023974"/>
            <a:chOff x="0" y="0"/>
            <a:chExt cx="8771843" cy="1365299"/>
          </a:xfrm>
        </p:grpSpPr>
        <p:sp>
          <p:nvSpPr>
            <p:cNvPr name="TextBox 14" id="14"/>
            <p:cNvSpPr txBox="true"/>
            <p:nvPr/>
          </p:nvSpPr>
          <p:spPr>
            <a:xfrm rot="0">
              <a:off x="520836" y="139724"/>
              <a:ext cx="7730171" cy="1000125"/>
            </a:xfrm>
            <a:prstGeom prst="rect">
              <a:avLst/>
            </a:prstGeom>
          </p:spPr>
          <p:txBody>
            <a:bodyPr anchor="t" rtlCol="false" tIns="0" lIns="0" bIns="0" rIns="0">
              <a:spAutoFit/>
            </a:bodyPr>
            <a:lstStyle/>
            <a:p>
              <a:pPr algn="ctr">
                <a:lnSpc>
                  <a:spcPts val="6299"/>
                </a:lnSpc>
              </a:pPr>
              <a:r>
                <a:rPr lang="en-US" sz="4500">
                  <a:solidFill>
                    <a:srgbClr val="000000"/>
                  </a:solidFill>
                  <a:latin typeface="Nunito"/>
                  <a:ea typeface="Nunito"/>
                  <a:cs typeface="Nunito"/>
                  <a:sym typeface="Nunito"/>
                </a:rPr>
                <a:t>By Vir Kaviraj</a:t>
              </a:r>
            </a:p>
          </p:txBody>
        </p:sp>
        <p:grpSp>
          <p:nvGrpSpPr>
            <p:cNvPr name="Group 15" id="15"/>
            <p:cNvGrpSpPr/>
            <p:nvPr/>
          </p:nvGrpSpPr>
          <p:grpSpPr>
            <a:xfrm rot="0">
              <a:off x="0" y="0"/>
              <a:ext cx="8771843" cy="1365299"/>
              <a:chOff x="0" y="0"/>
              <a:chExt cx="1732710" cy="269689"/>
            </a:xfrm>
          </p:grpSpPr>
          <p:sp>
            <p:nvSpPr>
              <p:cNvPr name="Freeform 16" id="16"/>
              <p:cNvSpPr/>
              <p:nvPr/>
            </p:nvSpPr>
            <p:spPr>
              <a:xfrm flipH="false" flipV="false" rot="0">
                <a:off x="0" y="0"/>
                <a:ext cx="1732710" cy="269689"/>
              </a:xfrm>
              <a:custGeom>
                <a:avLst/>
                <a:gdLst/>
                <a:ahLst/>
                <a:cxnLst/>
                <a:rect r="r" b="b" t="t" l="l"/>
                <a:pathLst>
                  <a:path h="269689" w="1732710">
                    <a:moveTo>
                      <a:pt x="60016" y="0"/>
                    </a:moveTo>
                    <a:lnTo>
                      <a:pt x="1672694" y="0"/>
                    </a:lnTo>
                    <a:cubicBezTo>
                      <a:pt x="1688611" y="0"/>
                      <a:pt x="1703876" y="6323"/>
                      <a:pt x="1715132" y="17578"/>
                    </a:cubicBezTo>
                    <a:cubicBezTo>
                      <a:pt x="1726387" y="28833"/>
                      <a:pt x="1732710" y="44099"/>
                      <a:pt x="1732710" y="60016"/>
                    </a:cubicBezTo>
                    <a:lnTo>
                      <a:pt x="1732710" y="209673"/>
                    </a:lnTo>
                    <a:cubicBezTo>
                      <a:pt x="1732710" y="242819"/>
                      <a:pt x="1705840" y="269689"/>
                      <a:pt x="1672694" y="269689"/>
                    </a:cubicBezTo>
                    <a:lnTo>
                      <a:pt x="60016" y="269689"/>
                    </a:lnTo>
                    <a:cubicBezTo>
                      <a:pt x="44099" y="269689"/>
                      <a:pt x="28833" y="263366"/>
                      <a:pt x="17578" y="252110"/>
                    </a:cubicBezTo>
                    <a:cubicBezTo>
                      <a:pt x="6323" y="240855"/>
                      <a:pt x="0" y="225590"/>
                      <a:pt x="0" y="209673"/>
                    </a:cubicBezTo>
                    <a:lnTo>
                      <a:pt x="0" y="60016"/>
                    </a:lnTo>
                    <a:cubicBezTo>
                      <a:pt x="0" y="44099"/>
                      <a:pt x="6323" y="28833"/>
                      <a:pt x="17578" y="17578"/>
                    </a:cubicBezTo>
                    <a:cubicBezTo>
                      <a:pt x="28833" y="6323"/>
                      <a:pt x="44099" y="0"/>
                      <a:pt x="60016" y="0"/>
                    </a:cubicBezTo>
                    <a:close/>
                  </a:path>
                </a:pathLst>
              </a:custGeom>
              <a:ln w="38100" cap="rnd">
                <a:solidFill>
                  <a:srgbClr val="474646"/>
                </a:solidFill>
                <a:prstDash val="solid"/>
                <a:round/>
              </a:ln>
            </p:spPr>
          </p:sp>
          <p:sp>
            <p:nvSpPr>
              <p:cNvPr name="TextBox 17" id="17"/>
              <p:cNvSpPr txBox="true"/>
              <p:nvPr/>
            </p:nvSpPr>
            <p:spPr>
              <a:xfrm>
                <a:off x="0" y="-38100"/>
                <a:ext cx="1732710" cy="307789"/>
              </a:xfrm>
              <a:prstGeom prst="rect">
                <a:avLst/>
              </a:prstGeom>
            </p:spPr>
            <p:txBody>
              <a:bodyPr anchor="ctr" rtlCol="false" tIns="50800" lIns="50800" bIns="50800" rIns="50800"/>
              <a:lstStyle/>
              <a:p>
                <a:pPr algn="ctr">
                  <a:lnSpc>
                    <a:spcPts val="2659"/>
                  </a:lnSpc>
                </a:pPr>
              </a:p>
            </p:txBody>
          </p:sp>
        </p:gr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179319" y="337565"/>
            <a:ext cx="10117768" cy="1285865"/>
          </a:xfrm>
          <a:prstGeom prst="rect">
            <a:avLst/>
          </a:prstGeom>
        </p:spPr>
        <p:txBody>
          <a:bodyPr anchor="t" rtlCol="false" tIns="0" lIns="0" bIns="0" rIns="0">
            <a:spAutoFit/>
          </a:bodyPr>
          <a:lstStyle/>
          <a:p>
            <a:pPr algn="ctr">
              <a:lnSpc>
                <a:spcPts val="10500"/>
              </a:lnSpc>
            </a:pPr>
            <a:r>
              <a:rPr lang="en-US" b="true" sz="7500">
                <a:solidFill>
                  <a:srgbClr val="000000"/>
                </a:solidFill>
                <a:latin typeface="Proxima Nova Bold"/>
                <a:ea typeface="Proxima Nova Bold"/>
                <a:cs typeface="Proxima Nova Bold"/>
                <a:sym typeface="Proxima Nova Bold"/>
              </a:rPr>
              <a:t>INTRODUCTIOND</a:t>
            </a:r>
          </a:p>
        </p:txBody>
      </p:sp>
      <p:grpSp>
        <p:nvGrpSpPr>
          <p:cNvPr name="Group 5" id="5"/>
          <p:cNvGrpSpPr/>
          <p:nvPr/>
        </p:nvGrpSpPr>
        <p:grpSpPr>
          <a:xfrm rot="0">
            <a:off x="12319137" y="9258300"/>
            <a:ext cx="3911463" cy="391146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2790860" y="1575805"/>
            <a:ext cx="12894687" cy="8971761"/>
          </a:xfrm>
          <a:prstGeom prst="rect">
            <a:avLst/>
          </a:prstGeom>
        </p:spPr>
        <p:txBody>
          <a:bodyPr anchor="t" rtlCol="false" tIns="0" lIns="0" bIns="0" rIns="0">
            <a:spAutoFit/>
          </a:bodyPr>
          <a:lstStyle/>
          <a:p>
            <a:pPr algn="l" marL="577629" indent="-288815" lvl="1">
              <a:lnSpc>
                <a:spcPts val="3745"/>
              </a:lnSpc>
              <a:buFont typeface="Arial"/>
              <a:buChar char="•"/>
            </a:pPr>
            <a:r>
              <a:rPr lang="en-US" sz="2675">
                <a:solidFill>
                  <a:srgbClr val="000000"/>
                </a:solidFill>
                <a:latin typeface="Nunito"/>
                <a:ea typeface="Nunito"/>
                <a:cs typeface="Nunito"/>
                <a:sym typeface="Nunito"/>
              </a:rPr>
              <a:t>In today’s digital era, Small and Medium Enterprises (SMEs) rely heavily on information technology for operations such as communication, transactions, data storage, and customer management. While digital transformation improves efficiency and growth, it also exposes SMEs to various cybersecurity threats. Due to limited resources, expertise, and infrastructure, SMEs are more vulnerable to cyberattacks than large organizations.</a:t>
            </a:r>
          </a:p>
          <a:p>
            <a:pPr algn="l" marL="577629" indent="-288815" lvl="1">
              <a:lnSpc>
                <a:spcPts val="3745"/>
              </a:lnSpc>
              <a:buFont typeface="Arial"/>
              <a:buChar char="•"/>
            </a:pPr>
            <a:r>
              <a:rPr lang="en-US" sz="2675">
                <a:solidFill>
                  <a:srgbClr val="000000"/>
                </a:solidFill>
                <a:latin typeface="Nunito"/>
                <a:ea typeface="Nunito"/>
                <a:cs typeface="Nunito"/>
                <a:sym typeface="Nunito"/>
              </a:rPr>
              <a:t>Cyber threats like phishing, ransomware, insider threats, password attacks, and data breaches can cause financial loss, operational disruption, data compromise, and reputational damage. In some cases, even a single attack can threaten business continuity.</a:t>
            </a:r>
          </a:p>
          <a:p>
            <a:pPr algn="l" marL="577629" indent="-288815" lvl="1">
              <a:lnSpc>
                <a:spcPts val="3745"/>
              </a:lnSpc>
              <a:buFont typeface="Arial"/>
              <a:buChar char="•"/>
            </a:pPr>
            <a:r>
              <a:rPr lang="en-US" sz="2675">
                <a:solidFill>
                  <a:srgbClr val="000000"/>
                </a:solidFill>
                <a:latin typeface="Nunito"/>
                <a:ea typeface="Nunito"/>
                <a:cs typeface="Nunito"/>
                <a:sym typeface="Nunito"/>
              </a:rPr>
              <a:t>To address these risks, SMEs need a structured cybersecurity risk assessment framework to identify threats, evaluate their likelihood and impact, and implement effective mitigation strategies.</a:t>
            </a:r>
          </a:p>
          <a:p>
            <a:pPr algn="l" marL="577629" indent="-288815" lvl="1">
              <a:lnSpc>
                <a:spcPts val="3745"/>
              </a:lnSpc>
              <a:buFont typeface="Arial"/>
              <a:buChar char="•"/>
            </a:pPr>
            <a:r>
              <a:rPr lang="en-US" sz="2675">
                <a:solidFill>
                  <a:srgbClr val="000000"/>
                </a:solidFill>
                <a:latin typeface="Nunito"/>
                <a:ea typeface="Nunito"/>
                <a:cs typeface="Nunito"/>
                <a:sym typeface="Nunito"/>
              </a:rPr>
              <a:t>This project develops such a framework tailored for SMEs, analyzing common risks, designing a risk evaluation model, and proposing practical mitigation strategies. It is validated through case studies to demonstrate its effectiveness in real-world scenarios, aiming to provide a scalable approach to protecting business assets and data.</a:t>
            </a:r>
          </a:p>
          <a:p>
            <a:pPr algn="l" marL="577629" indent="-288815" lvl="1">
              <a:lnSpc>
                <a:spcPts val="3745"/>
              </a:lnSpc>
              <a:buFont typeface="Arial"/>
              <a:buChar char="•"/>
            </a:pPr>
          </a:p>
        </p:txBody>
      </p:sp>
      <p:sp>
        <p:nvSpPr>
          <p:cNvPr name="Freeform 9" id="9"/>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2129385" y="-2859528"/>
            <a:ext cx="3911463" cy="391146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3822135" y="2296085"/>
            <a:ext cx="10452733" cy="8098902"/>
          </a:xfrm>
          <a:custGeom>
            <a:avLst/>
            <a:gdLst/>
            <a:ahLst/>
            <a:cxnLst/>
            <a:rect r="r" b="b" t="t" l="l"/>
            <a:pathLst>
              <a:path h="8098902" w="10452733">
                <a:moveTo>
                  <a:pt x="0" y="0"/>
                </a:moveTo>
                <a:lnTo>
                  <a:pt x="10452734" y="0"/>
                </a:lnTo>
                <a:lnTo>
                  <a:pt x="10452734" y="8098902"/>
                </a:lnTo>
                <a:lnTo>
                  <a:pt x="0" y="8098902"/>
                </a:lnTo>
                <a:lnTo>
                  <a:pt x="0" y="0"/>
                </a:lnTo>
                <a:close/>
              </a:path>
            </a:pathLst>
          </a:custGeom>
          <a:blipFill>
            <a:blip r:embed="rId4"/>
            <a:stretch>
              <a:fillRect l="0" t="-6957" r="0" b="-6957"/>
            </a:stretch>
          </a:blipFill>
        </p:spPr>
      </p:sp>
      <p:sp>
        <p:nvSpPr>
          <p:cNvPr name="TextBox 15" id="15"/>
          <p:cNvSpPr txBox="true"/>
          <p:nvPr/>
        </p:nvSpPr>
        <p:spPr>
          <a:xfrm rot="0">
            <a:off x="3422619" y="300204"/>
            <a:ext cx="11442763" cy="1995881"/>
          </a:xfrm>
          <a:prstGeom prst="rect">
            <a:avLst/>
          </a:prstGeom>
        </p:spPr>
        <p:txBody>
          <a:bodyPr anchor="t" rtlCol="false" tIns="0" lIns="0" bIns="0" rIns="0">
            <a:spAutoFit/>
          </a:bodyPr>
          <a:lstStyle/>
          <a:p>
            <a:pPr algn="ctr">
              <a:lnSpc>
                <a:spcPts val="8071"/>
              </a:lnSpc>
            </a:pPr>
            <a:r>
              <a:rPr lang="en-US" b="true" sz="5765">
                <a:solidFill>
                  <a:srgbClr val="000000"/>
                </a:solidFill>
                <a:latin typeface="Proxima Nova Bold"/>
                <a:ea typeface="Proxima Nova Bold"/>
                <a:cs typeface="Proxima Nova Bold"/>
                <a:sym typeface="Proxima Nova Bold"/>
              </a:rPr>
              <a:t>COMMON CYBERSECURITY RISKS IN SMES?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4647252" y="3016617"/>
            <a:ext cx="11037004" cy="7154573"/>
          </a:xfrm>
          <a:custGeom>
            <a:avLst/>
            <a:gdLst/>
            <a:ahLst/>
            <a:cxnLst/>
            <a:rect r="r" b="b" t="t" l="l"/>
            <a:pathLst>
              <a:path h="7154573" w="11037004">
                <a:moveTo>
                  <a:pt x="0" y="0"/>
                </a:moveTo>
                <a:lnTo>
                  <a:pt x="11037004" y="0"/>
                </a:lnTo>
                <a:lnTo>
                  <a:pt x="11037004" y="7154573"/>
                </a:lnTo>
                <a:lnTo>
                  <a:pt x="0" y="7154573"/>
                </a:lnTo>
                <a:lnTo>
                  <a:pt x="0" y="0"/>
                </a:lnTo>
                <a:close/>
              </a:path>
            </a:pathLst>
          </a:custGeom>
          <a:blipFill>
            <a:blip r:embed="rId4"/>
            <a:stretch>
              <a:fillRect l="0" t="-11911" r="0" b="-11911"/>
            </a:stretch>
          </a:blipFill>
        </p:spPr>
      </p:sp>
      <p:sp>
        <p:nvSpPr>
          <p:cNvPr name="TextBox 15" id="15"/>
          <p:cNvSpPr txBox="true"/>
          <p:nvPr/>
        </p:nvSpPr>
        <p:spPr>
          <a:xfrm rot="0">
            <a:off x="2057400" y="1614380"/>
            <a:ext cx="6754179" cy="1402237"/>
          </a:xfrm>
          <a:prstGeom prst="rect">
            <a:avLst/>
          </a:prstGeom>
        </p:spPr>
        <p:txBody>
          <a:bodyPr anchor="t" rtlCol="false" tIns="0" lIns="0" bIns="0" rIns="0">
            <a:spAutoFit/>
          </a:bodyPr>
          <a:lstStyle/>
          <a:p>
            <a:pPr algn="ctr">
              <a:lnSpc>
                <a:spcPts val="5603"/>
              </a:lnSpc>
            </a:pPr>
            <a:r>
              <a:rPr lang="en-US" b="true" sz="4002">
                <a:solidFill>
                  <a:srgbClr val="000000"/>
                </a:solidFill>
                <a:latin typeface="Proxima Nova Bold"/>
                <a:ea typeface="Proxima Nova Bold"/>
                <a:cs typeface="Proxima Nova Bold"/>
                <a:sym typeface="Proxima Nova Bold"/>
              </a:rPr>
              <a:t>CYBERSECURITY FRAMEWORK (NIST MODEL)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437678" y="2321508"/>
            <a:ext cx="16821622" cy="7590660"/>
          </a:xfrm>
          <a:custGeom>
            <a:avLst/>
            <a:gdLst/>
            <a:ahLst/>
            <a:cxnLst/>
            <a:rect r="r" b="b" t="t" l="l"/>
            <a:pathLst>
              <a:path h="7590660" w="16821622">
                <a:moveTo>
                  <a:pt x="0" y="0"/>
                </a:moveTo>
                <a:lnTo>
                  <a:pt x="16821622" y="0"/>
                </a:lnTo>
                <a:lnTo>
                  <a:pt x="16821622" y="7590660"/>
                </a:lnTo>
                <a:lnTo>
                  <a:pt x="0" y="7590660"/>
                </a:lnTo>
                <a:lnTo>
                  <a:pt x="0" y="0"/>
                </a:lnTo>
                <a:close/>
              </a:path>
            </a:pathLst>
          </a:custGeom>
          <a:blipFill>
            <a:blip r:embed="rId4"/>
            <a:stretch>
              <a:fillRect l="0" t="-21830" r="0" b="-16674"/>
            </a:stretch>
          </a:blipFill>
        </p:spPr>
      </p:sp>
      <p:sp>
        <p:nvSpPr>
          <p:cNvPr name="TextBox 15" id="15"/>
          <p:cNvSpPr txBox="true"/>
          <p:nvPr/>
        </p:nvSpPr>
        <p:spPr>
          <a:xfrm rot="0">
            <a:off x="1289267" y="358041"/>
            <a:ext cx="15746927" cy="2778120"/>
          </a:xfrm>
          <a:prstGeom prst="rect">
            <a:avLst/>
          </a:prstGeom>
        </p:spPr>
        <p:txBody>
          <a:bodyPr anchor="t" rtlCol="false" tIns="0" lIns="0" bIns="0" rIns="0">
            <a:spAutoFit/>
          </a:bodyPr>
          <a:lstStyle/>
          <a:p>
            <a:pPr algn="ctr">
              <a:lnSpc>
                <a:spcPts val="9800"/>
              </a:lnSpc>
            </a:pPr>
            <a:r>
              <a:rPr lang="en-US" b="true" sz="7000">
                <a:solidFill>
                  <a:srgbClr val="000000"/>
                </a:solidFill>
                <a:latin typeface="Proxima Nova Bold"/>
                <a:ea typeface="Proxima Nova Bold"/>
                <a:cs typeface="Proxima Nova Bold"/>
                <a:sym typeface="Proxima Nova Bold"/>
              </a:rPr>
              <a:t>RISK EVALUATION METRIC</a:t>
            </a:r>
          </a:p>
          <a:p>
            <a:pPr algn="ctr">
              <a:lnSpc>
                <a:spcPts val="1259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3084209" y="68066"/>
            <a:ext cx="11715168" cy="3222615"/>
          </a:xfrm>
          <a:prstGeom prst="rect">
            <a:avLst/>
          </a:prstGeom>
        </p:spPr>
        <p:txBody>
          <a:bodyPr anchor="t" rtlCol="false" tIns="0" lIns="0" bIns="0" rIns="0">
            <a:spAutoFit/>
          </a:bodyPr>
          <a:lstStyle/>
          <a:p>
            <a:pPr algn="ctr">
              <a:lnSpc>
                <a:spcPts val="8260"/>
              </a:lnSpc>
            </a:pPr>
            <a:r>
              <a:rPr lang="en-US" b="true" sz="5900">
                <a:solidFill>
                  <a:srgbClr val="000000"/>
                </a:solidFill>
                <a:latin typeface="Proxima Nova Bold"/>
                <a:ea typeface="Proxima Nova Bold"/>
                <a:cs typeface="Proxima Nova Bold"/>
                <a:sym typeface="Proxima Nova Bold"/>
              </a:rPr>
              <a:t>RISK ASSESSMENT TABLE</a:t>
            </a:r>
          </a:p>
          <a:p>
            <a:pPr algn="ctr">
              <a:lnSpc>
                <a:spcPts val="8260"/>
              </a:lnSpc>
            </a:pPr>
            <a:r>
              <a:rPr lang="en-US" b="true" sz="5900">
                <a:solidFill>
                  <a:srgbClr val="000000"/>
                </a:solidFill>
                <a:latin typeface="Proxima Nova Bold"/>
                <a:ea typeface="Proxima Nova Bold"/>
                <a:cs typeface="Proxima Nova Bold"/>
                <a:sym typeface="Proxima Nova Bold"/>
              </a:rPr>
              <a:t>STRUCTURE</a:t>
            </a:r>
          </a:p>
          <a:p>
            <a:pPr algn="ctr">
              <a:lnSpc>
                <a:spcPts val="9240"/>
              </a:lnSpc>
            </a:pPr>
          </a:p>
        </p:txBody>
      </p:sp>
      <p:sp>
        <p:nvSpPr>
          <p:cNvPr name="TextBox 15" id="15"/>
          <p:cNvSpPr txBox="true"/>
          <p:nvPr/>
        </p:nvSpPr>
        <p:spPr>
          <a:xfrm rot="0">
            <a:off x="2443782" y="2040079"/>
            <a:ext cx="12996023" cy="8129790"/>
          </a:xfrm>
          <a:prstGeom prst="rect">
            <a:avLst/>
          </a:prstGeom>
        </p:spPr>
        <p:txBody>
          <a:bodyPr anchor="t" rtlCol="false" tIns="0" lIns="0" bIns="0" rIns="0">
            <a:spAutoFit/>
          </a:bodyPr>
          <a:lstStyle/>
          <a:p>
            <a:pPr algn="just">
              <a:lnSpc>
                <a:spcPts val="3401"/>
              </a:lnSpc>
            </a:pPr>
            <a:r>
              <a:rPr lang="en-US" sz="2429">
                <a:solidFill>
                  <a:srgbClr val="000000"/>
                </a:solidFill>
                <a:latin typeface="Open Sans"/>
                <a:ea typeface="Open Sans"/>
                <a:cs typeface="Open Sans"/>
                <a:sym typeface="Open Sans"/>
              </a:rPr>
              <a:t>                                                       Asset, Threat, Vulnerability</a:t>
            </a:r>
          </a:p>
          <a:p>
            <a:pPr algn="just">
              <a:lnSpc>
                <a:spcPts val="3401"/>
              </a:lnSpc>
            </a:pPr>
            <a:r>
              <a:rPr lang="en-US" sz="2429">
                <a:solidFill>
                  <a:srgbClr val="000000"/>
                </a:solidFill>
                <a:latin typeface="Open Sans"/>
                <a:ea typeface="Open Sans"/>
                <a:cs typeface="Open Sans"/>
                <a:sym typeface="Open Sans"/>
              </a:rPr>
              <a:t>Likelihood (1–5), Impact (1–5)</a:t>
            </a:r>
          </a:p>
          <a:p>
            <a:pPr algn="just">
              <a:lnSpc>
                <a:spcPts val="3401"/>
              </a:lnSpc>
            </a:pPr>
            <a:r>
              <a:rPr lang="en-US" sz="2429">
                <a:solidFill>
                  <a:srgbClr val="000000"/>
                </a:solidFill>
                <a:latin typeface="Open Sans"/>
                <a:ea typeface="Open Sans"/>
                <a:cs typeface="Open Sans"/>
                <a:sym typeface="Open Sans"/>
              </a:rPr>
              <a:t>Risk Score = L × I</a:t>
            </a:r>
          </a:p>
          <a:p>
            <a:pPr algn="just">
              <a:lnSpc>
                <a:spcPts val="3401"/>
              </a:lnSpc>
              <a:spcBef>
                <a:spcPct val="0"/>
              </a:spcBef>
            </a:pPr>
            <a:r>
              <a:rPr lang="en-US" sz="2429">
                <a:solidFill>
                  <a:srgbClr val="000000"/>
                </a:solidFill>
                <a:latin typeface="Open Sans"/>
                <a:ea typeface="Open Sans"/>
                <a:cs typeface="Open Sans"/>
                <a:sym typeface="Open Sans"/>
              </a:rPr>
              <a:t>Risk Level: L</a:t>
            </a:r>
            <a:r>
              <a:rPr lang="en-US" sz="2429">
                <a:solidFill>
                  <a:srgbClr val="000000"/>
                </a:solidFill>
                <a:latin typeface="Open Sans"/>
                <a:ea typeface="Open Sans"/>
                <a:cs typeface="Open Sans"/>
                <a:sym typeface="Open Sans"/>
              </a:rPr>
              <a:t>ow / Medium / High</a:t>
            </a:r>
          </a:p>
          <a:p>
            <a:pPr algn="just">
              <a:lnSpc>
                <a:spcPts val="3401"/>
              </a:lnSpc>
              <a:spcBef>
                <a:spcPct val="0"/>
              </a:spcBef>
            </a:pPr>
          </a:p>
          <a:p>
            <a:pPr algn="just">
              <a:lnSpc>
                <a:spcPts val="3401"/>
              </a:lnSpc>
              <a:spcBef>
                <a:spcPct val="0"/>
              </a:spcBef>
            </a:pPr>
            <a:r>
              <a:rPr lang="en-US" sz="2429">
                <a:solidFill>
                  <a:srgbClr val="000000"/>
                </a:solidFill>
                <a:latin typeface="Open Sans"/>
                <a:ea typeface="Open Sans"/>
                <a:cs typeface="Open Sans"/>
                <a:sym typeface="Open Sans"/>
              </a:rPr>
              <a:t>Risk Levels</a:t>
            </a:r>
          </a:p>
          <a:p>
            <a:pPr algn="just">
              <a:lnSpc>
                <a:spcPts val="3401"/>
              </a:lnSpc>
              <a:spcBef>
                <a:spcPct val="0"/>
              </a:spcBef>
            </a:pPr>
            <a:r>
              <a:rPr lang="en-US" sz="2429">
                <a:solidFill>
                  <a:srgbClr val="000000"/>
                </a:solidFill>
                <a:latin typeface="Open Sans"/>
                <a:ea typeface="Open Sans"/>
                <a:cs typeface="Open Sans"/>
                <a:sym typeface="Open Sans"/>
              </a:rPr>
              <a:t>🔴 High (13–25) → Immediate action?🟡 Medium (6–12) → Monitor &amp; improve?🟢 Low (1–5) → Acceptable</a:t>
            </a:r>
          </a:p>
          <a:p>
            <a:pPr algn="just">
              <a:lnSpc>
                <a:spcPts val="3401"/>
              </a:lnSpc>
              <a:spcBef>
                <a:spcPct val="0"/>
              </a:spcBef>
            </a:pPr>
          </a:p>
          <a:p>
            <a:pPr algn="just">
              <a:lnSpc>
                <a:spcPts val="3401"/>
              </a:lnSpc>
              <a:spcBef>
                <a:spcPct val="0"/>
              </a:spcBef>
            </a:pPr>
            <a:r>
              <a:rPr lang="en-US" sz="2429">
                <a:solidFill>
                  <a:srgbClr val="000000"/>
                </a:solidFill>
                <a:latin typeface="Open Sans"/>
                <a:ea typeface="Open Sans"/>
                <a:cs typeface="Open Sans"/>
                <a:sym typeface="Open Sans"/>
              </a:rPr>
              <a:t>Key Insights</a:t>
            </a:r>
          </a:p>
          <a:p>
            <a:pPr algn="just">
              <a:lnSpc>
                <a:spcPts val="3401"/>
              </a:lnSpc>
              <a:spcBef>
                <a:spcPct val="0"/>
              </a:spcBef>
            </a:pPr>
            <a:r>
              <a:rPr lang="en-US" sz="2429">
                <a:solidFill>
                  <a:srgbClr val="000000"/>
                </a:solidFill>
                <a:latin typeface="Open Sans"/>
                <a:ea typeface="Open Sans"/>
                <a:cs typeface="Open Sans"/>
                <a:sym typeface="Open Sans"/>
              </a:rPr>
              <a:t>High risk → Critical systems</a:t>
            </a:r>
          </a:p>
          <a:p>
            <a:pPr algn="just">
              <a:lnSpc>
                <a:spcPts val="3401"/>
              </a:lnSpc>
              <a:spcBef>
                <a:spcPct val="0"/>
              </a:spcBef>
            </a:pPr>
            <a:r>
              <a:rPr lang="en-US" sz="2429">
                <a:solidFill>
                  <a:srgbClr val="000000"/>
                </a:solidFill>
                <a:latin typeface="Open Sans"/>
                <a:ea typeface="Open Sans"/>
                <a:cs typeface="Open Sans"/>
                <a:sym typeface="Open Sans"/>
              </a:rPr>
              <a:t>Medium → Needs attention</a:t>
            </a:r>
          </a:p>
          <a:p>
            <a:pPr algn="just">
              <a:lnSpc>
                <a:spcPts val="3401"/>
              </a:lnSpc>
              <a:spcBef>
                <a:spcPct val="0"/>
              </a:spcBef>
            </a:pPr>
            <a:r>
              <a:rPr lang="en-US" sz="2429">
                <a:solidFill>
                  <a:srgbClr val="000000"/>
                </a:solidFill>
                <a:latin typeface="Open Sans"/>
                <a:ea typeface="Open Sans"/>
                <a:cs typeface="Open Sans"/>
                <a:sym typeface="Open Sans"/>
              </a:rPr>
              <a:t>Low → Low priority</a:t>
            </a:r>
          </a:p>
          <a:p>
            <a:pPr algn="just">
              <a:lnSpc>
                <a:spcPts val="3401"/>
              </a:lnSpc>
              <a:spcBef>
                <a:spcPct val="0"/>
              </a:spcBef>
            </a:pPr>
          </a:p>
          <a:p>
            <a:pPr algn="just">
              <a:lnSpc>
                <a:spcPts val="3401"/>
              </a:lnSpc>
              <a:spcBef>
                <a:spcPct val="0"/>
              </a:spcBef>
            </a:pPr>
            <a:r>
              <a:rPr lang="en-US" sz="2429">
                <a:solidFill>
                  <a:srgbClr val="000000"/>
                </a:solidFill>
                <a:latin typeface="Open Sans"/>
                <a:ea typeface="Open Sans"/>
                <a:cs typeface="Open Sans"/>
                <a:sym typeface="Open Sans"/>
              </a:rPr>
              <a:t>Importance</a:t>
            </a:r>
          </a:p>
          <a:p>
            <a:pPr algn="just">
              <a:lnSpc>
                <a:spcPts val="3401"/>
              </a:lnSpc>
              <a:spcBef>
                <a:spcPct val="0"/>
              </a:spcBef>
            </a:pPr>
            <a:r>
              <a:rPr lang="en-US" sz="2429">
                <a:solidFill>
                  <a:srgbClr val="000000"/>
                </a:solidFill>
                <a:latin typeface="Open Sans"/>
                <a:ea typeface="Open Sans"/>
                <a:cs typeface="Open Sans"/>
                <a:sym typeface="Open Sans"/>
              </a:rPr>
              <a:t>Prioritizes risks</a:t>
            </a:r>
          </a:p>
          <a:p>
            <a:pPr algn="just">
              <a:lnSpc>
                <a:spcPts val="3401"/>
              </a:lnSpc>
              <a:spcBef>
                <a:spcPct val="0"/>
              </a:spcBef>
            </a:pPr>
            <a:r>
              <a:rPr lang="en-US" sz="2429">
                <a:solidFill>
                  <a:srgbClr val="000000"/>
                </a:solidFill>
                <a:latin typeface="Open Sans"/>
                <a:ea typeface="Open Sans"/>
                <a:cs typeface="Open Sans"/>
                <a:sym typeface="Open Sans"/>
              </a:rPr>
              <a:t>Improves decision-making</a:t>
            </a:r>
          </a:p>
          <a:p>
            <a:pPr algn="just">
              <a:lnSpc>
                <a:spcPts val="3401"/>
              </a:lnSpc>
              <a:spcBef>
                <a:spcPct val="0"/>
              </a:spcBef>
            </a:pPr>
            <a:r>
              <a:rPr lang="en-US" sz="2429">
                <a:solidFill>
                  <a:srgbClr val="000000"/>
                </a:solidFill>
                <a:latin typeface="Open Sans"/>
                <a:ea typeface="Open Sans"/>
                <a:cs typeface="Open Sans"/>
                <a:sym typeface="Open Sans"/>
              </a:rPr>
              <a:t>Enhances security posture</a:t>
            </a:r>
          </a:p>
          <a:p>
            <a:pPr algn="just">
              <a:lnSpc>
                <a:spcPts val="3401"/>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3697345" y="2274027"/>
            <a:ext cx="11185058" cy="7554811"/>
          </a:xfrm>
          <a:custGeom>
            <a:avLst/>
            <a:gdLst/>
            <a:ahLst/>
            <a:cxnLst/>
            <a:rect r="r" b="b" t="t" l="l"/>
            <a:pathLst>
              <a:path h="7554811" w="11185058">
                <a:moveTo>
                  <a:pt x="0" y="0"/>
                </a:moveTo>
                <a:lnTo>
                  <a:pt x="11185058" y="0"/>
                </a:lnTo>
                <a:lnTo>
                  <a:pt x="11185058" y="7554811"/>
                </a:lnTo>
                <a:lnTo>
                  <a:pt x="0" y="7554811"/>
                </a:lnTo>
                <a:lnTo>
                  <a:pt x="0" y="0"/>
                </a:lnTo>
                <a:close/>
              </a:path>
            </a:pathLst>
          </a:custGeom>
          <a:blipFill>
            <a:blip r:embed="rId4"/>
            <a:stretch>
              <a:fillRect l="0" t="-10228" r="0" b="-5244"/>
            </a:stretch>
          </a:blipFill>
        </p:spPr>
      </p:sp>
      <p:sp>
        <p:nvSpPr>
          <p:cNvPr name="TextBox 15" id="15"/>
          <p:cNvSpPr txBox="true"/>
          <p:nvPr/>
        </p:nvSpPr>
        <p:spPr>
          <a:xfrm rot="0">
            <a:off x="2389627" y="780588"/>
            <a:ext cx="14196140" cy="1307116"/>
          </a:xfrm>
          <a:prstGeom prst="rect">
            <a:avLst/>
          </a:prstGeom>
        </p:spPr>
        <p:txBody>
          <a:bodyPr anchor="t" rtlCol="false" tIns="0" lIns="0" bIns="0" rIns="0">
            <a:spAutoFit/>
          </a:bodyPr>
          <a:lstStyle/>
          <a:p>
            <a:pPr algn="ctr">
              <a:lnSpc>
                <a:spcPts val="10695"/>
              </a:lnSpc>
            </a:pPr>
            <a:r>
              <a:rPr lang="en-US" b="true" sz="7639">
                <a:solidFill>
                  <a:srgbClr val="000000"/>
                </a:solidFill>
                <a:latin typeface="Proxima Nova Bold"/>
                <a:ea typeface="Proxima Nova Bold"/>
                <a:cs typeface="Proxima Nova Bold"/>
                <a:sym typeface="Proxima Nova Bold"/>
              </a:rPr>
              <a:t>RISK MITIGATION STRATEGIES?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129385" y="57100"/>
            <a:ext cx="14104407" cy="1339799"/>
          </a:xfrm>
          <a:prstGeom prst="rect">
            <a:avLst/>
          </a:prstGeom>
        </p:spPr>
        <p:txBody>
          <a:bodyPr anchor="t" rtlCol="false" tIns="0" lIns="0" bIns="0" rIns="0">
            <a:spAutoFit/>
          </a:bodyPr>
          <a:lstStyle/>
          <a:p>
            <a:pPr algn="ctr">
              <a:lnSpc>
                <a:spcPts val="10995"/>
              </a:lnSpc>
            </a:pPr>
            <a:r>
              <a:rPr lang="en-US" b="true" sz="7853">
                <a:solidFill>
                  <a:srgbClr val="000000"/>
                </a:solidFill>
                <a:latin typeface="Proxima Nova Bold"/>
                <a:ea typeface="Proxima Nova Bold"/>
                <a:cs typeface="Proxima Nova Bold"/>
                <a:sym typeface="Proxima Nova Bold"/>
              </a:rPr>
              <a:t>VALIDATE THE MODEL</a:t>
            </a:r>
          </a:p>
        </p:txBody>
      </p:sp>
      <p:sp>
        <p:nvSpPr>
          <p:cNvPr name="TextBox 15" id="15"/>
          <p:cNvSpPr txBox="true"/>
          <p:nvPr/>
        </p:nvSpPr>
        <p:spPr>
          <a:xfrm rot="0">
            <a:off x="2652906" y="2242922"/>
            <a:ext cx="13337354" cy="7737193"/>
          </a:xfrm>
          <a:prstGeom prst="rect">
            <a:avLst/>
          </a:prstGeom>
        </p:spPr>
        <p:txBody>
          <a:bodyPr anchor="t" rtlCol="false" tIns="0" lIns="0" bIns="0" rIns="0">
            <a:spAutoFit/>
          </a:bodyPr>
          <a:lstStyle/>
          <a:p>
            <a:pPr algn="l">
              <a:lnSpc>
                <a:spcPts val="5615"/>
              </a:lnSpc>
            </a:pPr>
            <a:r>
              <a:rPr lang="en-US" sz="4011">
                <a:solidFill>
                  <a:srgbClr val="000000"/>
                </a:solidFill>
                <a:latin typeface="Canva Sans"/>
                <a:ea typeface="Canva Sans"/>
                <a:cs typeface="Canva Sans"/>
                <a:sym typeface="Canva Sans"/>
              </a:rPr>
              <a:t>What is Validation?</a:t>
            </a:r>
          </a:p>
          <a:p>
            <a:pPr algn="l">
              <a:lnSpc>
                <a:spcPts val="5615"/>
              </a:lnSpc>
            </a:pPr>
            <a:r>
              <a:rPr lang="en-US" sz="4011">
                <a:solidFill>
                  <a:srgbClr val="000000"/>
                </a:solidFill>
                <a:latin typeface="Canva Sans"/>
                <a:ea typeface="Canva Sans"/>
                <a:cs typeface="Canva Sans"/>
                <a:sym typeface="Canva Sans"/>
              </a:rPr>
              <a:t>Testing mo</a:t>
            </a:r>
            <a:r>
              <a:rPr lang="en-US" sz="4011">
                <a:solidFill>
                  <a:srgbClr val="000000"/>
                </a:solidFill>
                <a:latin typeface="Canva Sans"/>
                <a:ea typeface="Canva Sans"/>
                <a:cs typeface="Canva Sans"/>
                <a:sym typeface="Canva Sans"/>
              </a:rPr>
              <a:t>del in real-world scenarios</a:t>
            </a:r>
          </a:p>
          <a:p>
            <a:pPr algn="l">
              <a:lnSpc>
                <a:spcPts val="5615"/>
              </a:lnSpc>
            </a:pPr>
            <a:r>
              <a:rPr lang="en-US" sz="4011">
                <a:solidFill>
                  <a:srgbClr val="000000"/>
                </a:solidFill>
                <a:latin typeface="Canva Sans"/>
                <a:ea typeface="Canva Sans"/>
                <a:cs typeface="Canva Sans"/>
                <a:sym typeface="Canva Sans"/>
              </a:rPr>
              <a:t>Uses hypothetical SME case studies</a:t>
            </a:r>
          </a:p>
          <a:p>
            <a:pPr algn="l">
              <a:lnSpc>
                <a:spcPts val="5615"/>
              </a:lnSpc>
            </a:pPr>
          </a:p>
          <a:p>
            <a:pPr algn="l">
              <a:lnSpc>
                <a:spcPts val="5615"/>
              </a:lnSpc>
            </a:pPr>
            <a:r>
              <a:rPr lang="en-US" sz="4011">
                <a:solidFill>
                  <a:srgbClr val="000000"/>
                </a:solidFill>
                <a:latin typeface="Canva Sans"/>
                <a:ea typeface="Canva Sans"/>
                <a:cs typeface="Canva Sans"/>
                <a:sym typeface="Canva Sans"/>
              </a:rPr>
              <a:t>Why It’s Important</a:t>
            </a:r>
          </a:p>
          <a:p>
            <a:pPr algn="l">
              <a:lnSpc>
                <a:spcPts val="5615"/>
              </a:lnSpc>
            </a:pPr>
            <a:r>
              <a:rPr lang="en-US" sz="4011">
                <a:solidFill>
                  <a:srgbClr val="000000"/>
                </a:solidFill>
                <a:latin typeface="Canva Sans"/>
                <a:ea typeface="Canva Sans"/>
                <a:cs typeface="Canva Sans"/>
                <a:sym typeface="Canva Sans"/>
              </a:rPr>
              <a:t>Ensures model is practical</a:t>
            </a:r>
          </a:p>
          <a:p>
            <a:pPr algn="l">
              <a:lnSpc>
                <a:spcPts val="5615"/>
              </a:lnSpc>
            </a:pPr>
            <a:r>
              <a:rPr lang="en-US" sz="4011">
                <a:solidFill>
                  <a:srgbClr val="000000"/>
                </a:solidFill>
                <a:latin typeface="Canva Sans"/>
                <a:ea typeface="Canva Sans"/>
                <a:cs typeface="Canva Sans"/>
                <a:sym typeface="Canva Sans"/>
              </a:rPr>
              <a:t>Shows real-world applicability</a:t>
            </a:r>
          </a:p>
          <a:p>
            <a:pPr algn="l">
              <a:lnSpc>
                <a:spcPts val="5615"/>
              </a:lnSpc>
            </a:pPr>
            <a:r>
              <a:rPr lang="en-US" sz="4011">
                <a:solidFill>
                  <a:srgbClr val="000000"/>
                </a:solidFill>
                <a:latin typeface="Canva Sans"/>
                <a:ea typeface="Canva Sans"/>
                <a:cs typeface="Canva Sans"/>
                <a:sym typeface="Canva Sans"/>
              </a:rPr>
              <a:t>Identifies gaps/limitations</a:t>
            </a:r>
          </a:p>
          <a:p>
            <a:pPr algn="l">
              <a:lnSpc>
                <a:spcPts val="5615"/>
              </a:lnSpc>
            </a:pPr>
            <a:r>
              <a:rPr lang="en-US" sz="4011">
                <a:solidFill>
                  <a:srgbClr val="000000"/>
                </a:solidFill>
                <a:latin typeface="Canva Sans"/>
                <a:ea typeface="Canva Sans"/>
                <a:cs typeface="Canva Sans"/>
                <a:sym typeface="Canva Sans"/>
              </a:rPr>
              <a:t>Highlights industry differences</a:t>
            </a:r>
          </a:p>
          <a:p>
            <a:pPr algn="l">
              <a:lnSpc>
                <a:spcPts val="5615"/>
              </a:lnSpc>
            </a:pPr>
            <a:r>
              <a:rPr lang="en-US" sz="4011">
                <a:solidFill>
                  <a:srgbClr val="000000"/>
                </a:solidFill>
                <a:latin typeface="Canva Sans"/>
                <a:ea typeface="Canva Sans"/>
                <a:cs typeface="Canva Sans"/>
                <a:sym typeface="Canva Sans"/>
              </a:rPr>
              <a:t>Improves credibility</a:t>
            </a:r>
          </a:p>
          <a:p>
            <a:pPr algn="l">
              <a:lnSpc>
                <a:spcPts val="5615"/>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8068268" y="1717800"/>
            <a:ext cx="10025816" cy="8333796"/>
          </a:xfrm>
          <a:custGeom>
            <a:avLst/>
            <a:gdLst/>
            <a:ahLst/>
            <a:cxnLst/>
            <a:rect r="r" b="b" t="t" l="l"/>
            <a:pathLst>
              <a:path h="8333796" w="10025816">
                <a:moveTo>
                  <a:pt x="0" y="0"/>
                </a:moveTo>
                <a:lnTo>
                  <a:pt x="10025817" y="0"/>
                </a:lnTo>
                <a:lnTo>
                  <a:pt x="10025817" y="8333795"/>
                </a:lnTo>
                <a:lnTo>
                  <a:pt x="0" y="8333795"/>
                </a:lnTo>
                <a:lnTo>
                  <a:pt x="0" y="0"/>
                </a:lnTo>
                <a:close/>
              </a:path>
            </a:pathLst>
          </a:custGeom>
          <a:blipFill>
            <a:blip r:embed="rId4"/>
            <a:stretch>
              <a:fillRect l="-1980" t="0" r="-1980" b="0"/>
            </a:stretch>
          </a:blipFill>
        </p:spPr>
      </p:sp>
      <p:sp>
        <p:nvSpPr>
          <p:cNvPr name="TextBox 15" id="15"/>
          <p:cNvSpPr txBox="true"/>
          <p:nvPr/>
        </p:nvSpPr>
        <p:spPr>
          <a:xfrm rot="0">
            <a:off x="2057400" y="93851"/>
            <a:ext cx="7700777" cy="2925981"/>
          </a:xfrm>
          <a:prstGeom prst="rect">
            <a:avLst/>
          </a:prstGeom>
        </p:spPr>
        <p:txBody>
          <a:bodyPr anchor="t" rtlCol="false" tIns="0" lIns="0" bIns="0" rIns="0">
            <a:spAutoFit/>
          </a:bodyPr>
          <a:lstStyle/>
          <a:p>
            <a:pPr algn="ctr">
              <a:lnSpc>
                <a:spcPts val="5817"/>
              </a:lnSpc>
            </a:pPr>
            <a:r>
              <a:rPr lang="en-US" b="true" sz="4155">
                <a:solidFill>
                  <a:srgbClr val="000000"/>
                </a:solidFill>
                <a:latin typeface="Proxima Nova Bold"/>
                <a:ea typeface="Proxima Nova Bold"/>
                <a:cs typeface="Proxima Nova Bold"/>
                <a:sym typeface="Proxima Nova Bold"/>
              </a:rPr>
              <a:t>DOCUMENT FINDINGS AND BEST PRACTICES FOR SME CYBERSECURITY</a:t>
            </a:r>
          </a:p>
          <a:p>
            <a:pPr algn="ctr">
              <a:lnSpc>
                <a:spcPts val="5817"/>
              </a:lnSpc>
            </a:pPr>
          </a:p>
        </p:txBody>
      </p:sp>
      <p:sp>
        <p:nvSpPr>
          <p:cNvPr name="TextBox 16" id="16"/>
          <p:cNvSpPr txBox="true"/>
          <p:nvPr/>
        </p:nvSpPr>
        <p:spPr>
          <a:xfrm rot="0">
            <a:off x="627961" y="2443520"/>
            <a:ext cx="6791333" cy="7608075"/>
          </a:xfrm>
          <a:prstGeom prst="rect">
            <a:avLst/>
          </a:prstGeom>
        </p:spPr>
        <p:txBody>
          <a:bodyPr anchor="t" rtlCol="false" tIns="0" lIns="0" bIns="0" rIns="0">
            <a:spAutoFit/>
          </a:bodyPr>
          <a:lstStyle/>
          <a:p>
            <a:pPr algn="l">
              <a:lnSpc>
                <a:spcPts val="3807"/>
              </a:lnSpc>
            </a:pPr>
            <a:r>
              <a:rPr lang="en-US" sz="2719">
                <a:solidFill>
                  <a:srgbClr val="000000"/>
                </a:solidFill>
                <a:latin typeface="Canva Sans"/>
                <a:ea typeface="Canva Sans"/>
                <a:cs typeface="Canva Sans"/>
                <a:sym typeface="Canva Sans"/>
              </a:rPr>
              <a:t>What</a:t>
            </a:r>
            <a:r>
              <a:rPr lang="en-US" sz="2719">
                <a:solidFill>
                  <a:srgbClr val="000000"/>
                </a:solidFill>
                <a:latin typeface="Canva Sans"/>
                <a:ea typeface="Canva Sans"/>
                <a:cs typeface="Canva Sans"/>
                <a:sym typeface="Canva Sans"/>
              </a:rPr>
              <a:t> are Findings?</a:t>
            </a:r>
          </a:p>
          <a:p>
            <a:pPr algn="l">
              <a:lnSpc>
                <a:spcPts val="3807"/>
              </a:lnSpc>
            </a:pPr>
            <a:r>
              <a:rPr lang="en-US" sz="2719">
                <a:solidFill>
                  <a:srgbClr val="000000"/>
                </a:solidFill>
                <a:latin typeface="Canva Sans"/>
                <a:ea typeface="Canva Sans"/>
                <a:cs typeface="Canva Sans"/>
                <a:sym typeface="Canva Sans"/>
              </a:rPr>
              <a:t>Results from risk analysis &amp; case studies</a:t>
            </a:r>
          </a:p>
          <a:p>
            <a:pPr algn="l">
              <a:lnSpc>
                <a:spcPts val="3807"/>
              </a:lnSpc>
            </a:pPr>
          </a:p>
          <a:p>
            <a:pPr algn="l">
              <a:lnSpc>
                <a:spcPts val="3807"/>
              </a:lnSpc>
            </a:pPr>
            <a:r>
              <a:rPr lang="en-US" sz="2719">
                <a:solidFill>
                  <a:srgbClr val="000000"/>
                </a:solidFill>
                <a:latin typeface="Canva Sans"/>
                <a:ea typeface="Canva Sans"/>
                <a:cs typeface="Canva Sans"/>
                <a:sym typeface="Canva Sans"/>
              </a:rPr>
              <a:t>Key Findings</a:t>
            </a:r>
          </a:p>
          <a:p>
            <a:pPr algn="l">
              <a:lnSpc>
                <a:spcPts val="3807"/>
              </a:lnSpc>
            </a:pPr>
            <a:r>
              <a:rPr lang="en-US" sz="2719">
                <a:solidFill>
                  <a:srgbClr val="000000"/>
                </a:solidFill>
                <a:latin typeface="Canva Sans"/>
                <a:ea typeface="Canva Sans"/>
                <a:cs typeface="Canva Sans"/>
                <a:sym typeface="Canva Sans"/>
              </a:rPr>
              <a:t>SMEs are highly vulnerable</a:t>
            </a:r>
          </a:p>
          <a:p>
            <a:pPr algn="l">
              <a:lnSpc>
                <a:spcPts val="3807"/>
              </a:lnSpc>
            </a:pPr>
            <a:r>
              <a:rPr lang="en-US" sz="2719">
                <a:solidFill>
                  <a:srgbClr val="000000"/>
                </a:solidFill>
                <a:latin typeface="Canva Sans"/>
                <a:ea typeface="Canva Sans"/>
                <a:cs typeface="Canva Sans"/>
                <a:sym typeface="Canva Sans"/>
              </a:rPr>
              <a:t>Human error is a major risk</a:t>
            </a:r>
          </a:p>
          <a:p>
            <a:pPr algn="l">
              <a:lnSpc>
                <a:spcPts val="3807"/>
              </a:lnSpc>
            </a:pPr>
            <a:r>
              <a:rPr lang="en-US" sz="2719">
                <a:solidFill>
                  <a:srgbClr val="000000"/>
                </a:solidFill>
                <a:latin typeface="Canva Sans"/>
                <a:ea typeface="Canva Sans"/>
                <a:cs typeface="Canva Sans"/>
                <a:sym typeface="Canva Sans"/>
              </a:rPr>
              <a:t>High-risk areas: Email, Accounts, Databases</a:t>
            </a:r>
          </a:p>
          <a:p>
            <a:pPr algn="l">
              <a:lnSpc>
                <a:spcPts val="3807"/>
              </a:lnSpc>
            </a:pPr>
            <a:r>
              <a:rPr lang="en-US" sz="2719">
                <a:solidFill>
                  <a:srgbClr val="000000"/>
                </a:solidFill>
                <a:latin typeface="Canva Sans"/>
                <a:ea typeface="Canva Sans"/>
                <a:cs typeface="Canva Sans"/>
                <a:sym typeface="Canva Sans"/>
              </a:rPr>
              <a:t>Lack of basic controls (MFA, updates)</a:t>
            </a:r>
          </a:p>
          <a:p>
            <a:pPr algn="l">
              <a:lnSpc>
                <a:spcPts val="3807"/>
              </a:lnSpc>
            </a:pPr>
            <a:r>
              <a:rPr lang="en-US" sz="2719">
                <a:solidFill>
                  <a:srgbClr val="000000"/>
                </a:solidFill>
                <a:latin typeface="Canva Sans"/>
                <a:ea typeface="Canva Sans"/>
                <a:cs typeface="Canva Sans"/>
                <a:sym typeface="Canva Sans"/>
              </a:rPr>
              <a:t>Model helps identify &amp; prioritize risks</a:t>
            </a:r>
          </a:p>
          <a:p>
            <a:pPr algn="l">
              <a:lnSpc>
                <a:spcPts val="3807"/>
              </a:lnSpc>
            </a:pPr>
          </a:p>
          <a:p>
            <a:pPr algn="l">
              <a:lnSpc>
                <a:spcPts val="3807"/>
              </a:lnSpc>
            </a:pPr>
            <a:r>
              <a:rPr lang="en-US" sz="2719">
                <a:solidFill>
                  <a:srgbClr val="000000"/>
                </a:solidFill>
                <a:latin typeface="Canva Sans"/>
                <a:ea typeface="Canva Sans"/>
                <a:cs typeface="Canva Sans"/>
                <a:sym typeface="Canva Sans"/>
              </a:rPr>
              <a:t>Purpose</a:t>
            </a:r>
          </a:p>
          <a:p>
            <a:pPr algn="l">
              <a:lnSpc>
                <a:spcPts val="3807"/>
              </a:lnSpc>
            </a:pPr>
            <a:r>
              <a:rPr lang="en-US" sz="2719">
                <a:solidFill>
                  <a:srgbClr val="000000"/>
                </a:solidFill>
                <a:latin typeface="Canva Sans"/>
                <a:ea typeface="Canva Sans"/>
                <a:cs typeface="Canva Sans"/>
                <a:sym typeface="Canva Sans"/>
              </a:rPr>
              <a:t>Improves decision-making</a:t>
            </a:r>
          </a:p>
          <a:p>
            <a:pPr algn="l">
              <a:lnSpc>
                <a:spcPts val="3807"/>
              </a:lnSpc>
            </a:pPr>
            <a:r>
              <a:rPr lang="en-US" sz="2719">
                <a:solidFill>
                  <a:srgbClr val="000000"/>
                </a:solidFill>
                <a:latin typeface="Canva Sans"/>
                <a:ea typeface="Canva Sans"/>
                <a:cs typeface="Canva Sans"/>
                <a:sym typeface="Canva Sans"/>
              </a:rPr>
              <a:t>Strengthens cybersecurity</a:t>
            </a:r>
          </a:p>
          <a:p>
            <a:pPr algn="l">
              <a:lnSpc>
                <a:spcPts val="3807"/>
              </a:lnSpc>
            </a:pPr>
          </a:p>
          <a:p>
            <a:pPr algn="l">
              <a:lnSpc>
                <a:spcPts val="3807"/>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4616678" y="126081"/>
            <a:ext cx="9054645" cy="1961623"/>
          </a:xfrm>
          <a:prstGeom prst="rect">
            <a:avLst/>
          </a:prstGeom>
        </p:spPr>
        <p:txBody>
          <a:bodyPr anchor="t" rtlCol="false" tIns="0" lIns="0" bIns="0" rIns="0">
            <a:spAutoFit/>
          </a:bodyPr>
          <a:lstStyle/>
          <a:p>
            <a:pPr algn="ctr">
              <a:lnSpc>
                <a:spcPts val="16059"/>
              </a:lnSpc>
            </a:pPr>
            <a:r>
              <a:rPr lang="en-US" b="true" sz="11470">
                <a:solidFill>
                  <a:srgbClr val="000000"/>
                </a:solidFill>
                <a:latin typeface="Proxima Nova Bold"/>
                <a:ea typeface="Proxima Nova Bold"/>
                <a:cs typeface="Proxima Nova Bold"/>
                <a:sym typeface="Proxima Nova Bold"/>
              </a:rPr>
              <a:t>REFERENCE</a:t>
            </a:r>
          </a:p>
        </p:txBody>
      </p:sp>
      <p:sp>
        <p:nvSpPr>
          <p:cNvPr name="TextBox 15" id="15"/>
          <p:cNvSpPr txBox="true"/>
          <p:nvPr/>
        </p:nvSpPr>
        <p:spPr>
          <a:xfrm rot="0">
            <a:off x="302858" y="3657916"/>
            <a:ext cx="17654981" cy="5506720"/>
          </a:xfrm>
          <a:prstGeom prst="rect">
            <a:avLst/>
          </a:prstGeom>
        </p:spPr>
        <p:txBody>
          <a:bodyPr anchor="t" rtlCol="false" tIns="0" lIns="0" bIns="0" rIns="0">
            <a:spAutoFit/>
          </a:bodyPr>
          <a:lstStyle/>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Ransomware </a:t>
            </a:r>
            <a:r>
              <a:rPr lang="en-US" b="true" sz="5199">
                <a:solidFill>
                  <a:srgbClr val="000000"/>
                </a:solidFill>
                <a:latin typeface="Canva Sans Bold"/>
                <a:ea typeface="Canva Sans Bold"/>
                <a:cs typeface="Canva Sans Bold"/>
                <a:sym typeface="Canva Sans Bold"/>
              </a:rPr>
              <a:t>Attacks on Critical Infrastructure: Effects and Prevention Strategies </a:t>
            </a:r>
          </a:p>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An Overview of Malware Injection Attacks: Techniques, Impacts, and Countermeasures</a:t>
            </a:r>
          </a:p>
          <a:p>
            <a:pPr algn="l" marL="1122679" indent="-561340" lvl="1">
              <a:lnSpc>
                <a:spcPts val="7279"/>
              </a:lnSpc>
              <a:buFont typeface="Arial"/>
              <a:buChar char="•"/>
            </a:pPr>
            <a:r>
              <a:rPr lang="en-US" b="true" sz="5199">
                <a:solidFill>
                  <a:srgbClr val="000000"/>
                </a:solidFill>
                <a:latin typeface="Canva Sans Bold"/>
                <a:ea typeface="Canva Sans Bold"/>
                <a:cs typeface="Canva Sans Bold"/>
                <a:sym typeface="Canva Sans Bold"/>
              </a:rPr>
              <a:t>Ransomware Threats</a:t>
            </a:r>
          </a:p>
          <a:p>
            <a:pPr algn="ctr">
              <a:lnSpc>
                <a:spcPts val="727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DAHEesF0n8Q</dc:identifier>
  <dcterms:modified xsi:type="dcterms:W3CDTF">2011-08-01T06:04:30Z</dcterms:modified>
  <cp:revision>1</cp:revision>
  <dc:title>By Vir Kaviraj</dc:title>
</cp:coreProperties>
</file>